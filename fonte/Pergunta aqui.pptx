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x="18288000" cy="10287000"/>
  <p:notesSz cx="6858000" cy="9144000"/>
  <p:embeddedFontLst>
    <p:embeddedFont>
      <p:font typeface="Poppins Bold" charset="1" panose="00000800000000000000"/>
      <p:regular r:id="rId55"/>
    </p:embeddedFont>
    <p:embeddedFont>
      <p:font typeface="Poppins" charset="1" panose="00000500000000000000"/>
      <p:regular r:id="rId56"/>
    </p:embeddedFont>
    <p:embeddedFont>
      <p:font typeface="Open Sans Bold" charset="1" panose="020B0806030504020204"/>
      <p:regular r:id="rId5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fonts/font55.fntdata" Type="http://schemas.openxmlformats.org/officeDocument/2006/relationships/font"/><Relationship Id="rId56" Target="fonts/font56.fntdata" Type="http://schemas.openxmlformats.org/officeDocument/2006/relationships/font"/><Relationship Id="rId57" Target="fonts/font57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12" Target="../media/image12.gif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12" Target="../media/image12.gif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12" Target="../media/image12.gif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12" Target="../media/image12.gif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12" Target="../media/image12.gif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12" Target="../media/image12.gif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12" Target="../media/image12.gif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12" Target="../media/image12.gif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12" Target="../media/image12.gif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12" Target="../media/image12.gif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12" Target="../media/image12.gif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12" Target="../media/image12.gif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12" Target="../media/image12.gif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12" Target="../media/image12.gif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12" Target="../media/image12.gif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12" Target="../media/image12.gif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12" Target="../media/image12.gif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12" Target="../media/image12.gif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12" Target="../media/image12.gif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12" Target="../media/image12.gif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12" Target="../media/image12.gif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12" Target="../media/image12.gif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12" Target="../media/image12.gif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12" Target="../media/image12.gif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12" Target="../media/image12.gif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16917" y="0"/>
            <a:ext cx="12854166" cy="10287000"/>
          </a:xfrm>
          <a:custGeom>
            <a:avLst/>
            <a:gdLst/>
            <a:ahLst/>
            <a:cxnLst/>
            <a:rect r="r" b="b" t="t" l="l"/>
            <a:pathLst>
              <a:path h="10287000" w="12854166">
                <a:moveTo>
                  <a:pt x="0" y="0"/>
                </a:moveTo>
                <a:lnTo>
                  <a:pt x="12854166" y="0"/>
                </a:lnTo>
                <a:lnTo>
                  <a:pt x="1285416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97892" y="8368018"/>
            <a:ext cx="1701916" cy="1780563"/>
            <a:chOff x="0" y="0"/>
            <a:chExt cx="2269222" cy="237408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269222" cy="2374084"/>
              <a:chOff x="0" y="0"/>
              <a:chExt cx="448241" cy="46895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174363" y="263433"/>
              <a:ext cx="2082159" cy="1847219"/>
            </a:xfrm>
            <a:custGeom>
              <a:avLst/>
              <a:gdLst/>
              <a:ahLst/>
              <a:cxnLst/>
              <a:rect r="r" b="b" t="t" l="l"/>
              <a:pathLst>
                <a:path h="1847219" w="2082159">
                  <a:moveTo>
                    <a:pt x="0" y="0"/>
                  </a:moveTo>
                  <a:lnTo>
                    <a:pt x="2082159" y="0"/>
                  </a:lnTo>
                  <a:lnTo>
                    <a:pt x="2082159" y="1847219"/>
                  </a:lnTo>
                  <a:lnTo>
                    <a:pt x="0" y="1847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83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81077" y="3799330"/>
            <a:ext cx="7725846" cy="232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60"/>
              </a:lnSpc>
            </a:pPr>
            <a:r>
              <a:rPr lang="en-US" b="true" sz="12828">
                <a:solidFill>
                  <a:srgbClr val="87A3AE"/>
                </a:solidFill>
                <a:latin typeface="Poppins Bold"/>
                <a:ea typeface="Poppins Bold"/>
                <a:cs typeface="Poppins Bold"/>
                <a:sym typeface="Poppins Bold"/>
              </a:rPr>
              <a:t>ALERTAS!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601082" y="8750289"/>
            <a:ext cx="1316437" cy="131643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21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659091" y="4103552"/>
            <a:ext cx="4600387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que é um evento climático severo?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74297" y="5687486"/>
            <a:ext cx="2022969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Uma mudança no clima que acontece em determinado período.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48644" y="7110148"/>
            <a:ext cx="2481185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Uma alteração no tempo que acontece de forma previsível.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87689" y="5787063"/>
            <a:ext cx="2412292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b) Um fenômeno climático que acontece somente em períodos de chuva.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72868" y="7110148"/>
            <a:ext cx="2572401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d) Um fenômeno climático que pode causar grandes impactos e colocar pessoas em risco.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22882" y="675507"/>
            <a:ext cx="1316437" cy="131643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21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65047" y="4103552"/>
            <a:ext cx="6622319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Quem pode emitir alertas sobre eventos climáticos?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87091" y="6034713"/>
            <a:ext cx="1004292" cy="25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A escola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19282" y="7417992"/>
            <a:ext cx="1939909" cy="25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c) Defesa Civil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10777" y="5681018"/>
            <a:ext cx="2161926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b)  Secretaria do Meio ambiente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244883" y="7457362"/>
            <a:ext cx="2093714" cy="5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Lideres comunitarios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522882" y="675507"/>
            <a:ext cx="1316437" cy="131643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21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65047" y="4052813"/>
            <a:ext cx="7058136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que pode aumentar o risco de deslizamentos?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10821" y="5910875"/>
            <a:ext cx="1978334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Ventos fortes em áreas abertas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210821" y="7299750"/>
            <a:ext cx="1956832" cy="5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Períodos de chuvas moderadas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69143" y="5844200"/>
            <a:ext cx="2104994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b) Chuvas fortes e prolongadas 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153022" y="7442625"/>
            <a:ext cx="2230640" cy="5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Vários dias nublados 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4364335" y="3941200"/>
            <a:ext cx="1449934" cy="1516937"/>
            <a:chOff x="0" y="0"/>
            <a:chExt cx="1933246" cy="202258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22882" y="675507"/>
            <a:ext cx="1316437" cy="131643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21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62215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0"/>
                </a:lnTo>
                <a:lnTo>
                  <a:pt x="0" y="10373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174297" y="4160832"/>
            <a:ext cx="5661167" cy="1268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você mora perto de um morro e a chuva não para há dias, qual é o sinal de alerta de deslizamento em sua casa?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083693" y="5995331"/>
            <a:ext cx="2130008" cy="25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Surgimento de mofo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86022" y="7414050"/>
            <a:ext cx="2227679" cy="25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Janela quebrada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04851" y="5902632"/>
            <a:ext cx="2080002" cy="5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b) Rachaduras novas nas paredes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15277" y="7267246"/>
            <a:ext cx="2087584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Formação de poças de água na rua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22882" y="675507"/>
            <a:ext cx="1316437" cy="131643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21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633746" y="3982362"/>
            <a:ext cx="6318673" cy="117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Ao perceber que o nível de um rio está subindo rapidamente e a água está ficando mais barrenta, o que isso pode indicar?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88644" y="5787063"/>
            <a:ext cx="2201186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a)Que pode haver aumento do risco de enchente.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20041" y="5787063"/>
            <a:ext cx="1878054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b) Que o período de chuva está chegando ao fim.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36176" y="7209712"/>
            <a:ext cx="2208025" cy="25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14980" y="7110148"/>
            <a:ext cx="2596560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Que é seguro se aproximar do rio para observar a mudança no nível da água.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2023219" y="2737176"/>
            <a:ext cx="1871238" cy="1590553"/>
          </a:xfrm>
          <a:prstGeom prst="rect">
            <a:avLst/>
          </a:prstGeom>
          <a:ln w="66675" cap="sq">
            <a:solidFill>
              <a:srgbClr val="00BF63"/>
            </a:solidFill>
            <a:prstDash val="dash"/>
          </a:ln>
        </p:spPr>
      </p:pic>
      <p:grpSp>
        <p:nvGrpSpPr>
          <p:cNvPr name="Group 21" id="21"/>
          <p:cNvGrpSpPr/>
          <p:nvPr/>
        </p:nvGrpSpPr>
        <p:grpSpPr>
          <a:xfrm rot="0">
            <a:off x="522882" y="675507"/>
            <a:ext cx="1316437" cy="131643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21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4002" y="0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0"/>
                </a:lnTo>
                <a:lnTo>
                  <a:pt x="0" y="10373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85437" y="3952758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71205" y="3319452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4" y="0"/>
                </a:lnTo>
                <a:lnTo>
                  <a:pt x="1306414" y="1306413"/>
                </a:lnTo>
                <a:lnTo>
                  <a:pt x="0" y="13064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54136" y="3546328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94558" y="5718047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64390" y="5718047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194558" y="714070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264390" y="714070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475200" y="3972658"/>
            <a:ext cx="1449934" cy="1516937"/>
            <a:chOff x="0" y="0"/>
            <a:chExt cx="1933246" cy="202258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2431301" y="2556396"/>
            <a:ext cx="2247061" cy="1910002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0178475" y="2362205"/>
            <a:ext cx="1871238" cy="1590553"/>
          </a:xfrm>
          <a:prstGeom prst="rect">
            <a:avLst/>
          </a:prstGeom>
          <a:ln w="66675" cap="sq">
            <a:solidFill>
              <a:srgbClr val="00BF63"/>
            </a:solidFill>
            <a:prstDash val="dash"/>
          </a:ln>
        </p:spPr>
      </p:pic>
      <p:grpSp>
        <p:nvGrpSpPr>
          <p:cNvPr name="Group 17" id="17"/>
          <p:cNvGrpSpPr/>
          <p:nvPr/>
        </p:nvGrpSpPr>
        <p:grpSpPr>
          <a:xfrm rot="0">
            <a:off x="522882" y="675507"/>
            <a:ext cx="1316437" cy="131643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21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505559" y="328621"/>
            <a:ext cx="3912806" cy="5981662"/>
            <a:chOff x="0" y="0"/>
            <a:chExt cx="1030533" cy="157541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30533" cy="1575417"/>
            </a:xfrm>
            <a:custGeom>
              <a:avLst/>
              <a:gdLst/>
              <a:ahLst/>
              <a:cxnLst/>
              <a:rect r="r" b="b" t="t" l="l"/>
              <a:pathLst>
                <a:path h="1575417" w="1030533">
                  <a:moveTo>
                    <a:pt x="100909" y="0"/>
                  </a:moveTo>
                  <a:lnTo>
                    <a:pt x="929624" y="0"/>
                  </a:lnTo>
                  <a:cubicBezTo>
                    <a:pt x="985355" y="0"/>
                    <a:pt x="1030533" y="45179"/>
                    <a:pt x="1030533" y="100909"/>
                  </a:cubicBezTo>
                  <a:lnTo>
                    <a:pt x="1030533" y="1474508"/>
                  </a:lnTo>
                  <a:cubicBezTo>
                    <a:pt x="1030533" y="1530239"/>
                    <a:pt x="985355" y="1575417"/>
                    <a:pt x="929624" y="1575417"/>
                  </a:cubicBezTo>
                  <a:lnTo>
                    <a:pt x="100909" y="1575417"/>
                  </a:lnTo>
                  <a:cubicBezTo>
                    <a:pt x="45179" y="1575417"/>
                    <a:pt x="0" y="1530239"/>
                    <a:pt x="0" y="1474508"/>
                  </a:cubicBezTo>
                  <a:lnTo>
                    <a:pt x="0" y="100909"/>
                  </a:lnTo>
                  <a:cubicBezTo>
                    <a:pt x="0" y="45179"/>
                    <a:pt x="45179" y="0"/>
                    <a:pt x="100909" y="0"/>
                  </a:cubicBezTo>
                  <a:close/>
                </a:path>
              </a:pathLst>
            </a:custGeom>
            <a:solidFill>
              <a:srgbClr val="FFD21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30533" cy="1623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194558" y="3973703"/>
            <a:ext cx="5611161" cy="117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vento forte pode causar interrupção de energia principalmente porque pode: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35601" y="5718945"/>
            <a:ext cx="1887716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Ocasionam a queda de vegetação e a ruptura do fiação de distribuição.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349155" y="7093084"/>
            <a:ext cx="1920944" cy="125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Geram descargas magnéticas que desativam os medidores residenciais.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64390" y="7241170"/>
            <a:ext cx="2328853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Reduzem a umidade do ar, ressecando o cabeamento elétrico.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339300" y="5718945"/>
            <a:ext cx="1930798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Aumentam a resistência interna dos transformadores térmicos.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39238" y="4274503"/>
            <a:ext cx="95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2764681" y="797507"/>
            <a:ext cx="3246047" cy="514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7"/>
              </a:lnSpc>
            </a:pPr>
            <a:r>
              <a:rPr lang="en-US" b="true" sz="1962">
                <a:solidFill>
                  <a:srgbClr val="FC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Termos muitos técnicos... </a:t>
            </a:r>
            <a:r>
              <a:rPr lang="en-US" b="true" sz="1962" u="sng">
                <a:solidFill>
                  <a:srgbClr val="FC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Pensar em conjunto.. </a:t>
            </a:r>
          </a:p>
          <a:p>
            <a:pPr algn="ctr">
              <a:lnSpc>
                <a:spcPts val="2747"/>
              </a:lnSpc>
            </a:pPr>
            <a:r>
              <a:rPr lang="en-US" b="true" sz="1962">
                <a:solidFill>
                  <a:srgbClr val="FC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Sugestão alternativas: </a:t>
            </a:r>
          </a:p>
          <a:p>
            <a:pPr algn="ctr">
              <a:lnSpc>
                <a:spcPts val="2747"/>
              </a:lnSpc>
            </a:pPr>
            <a:r>
              <a:rPr lang="en-US" b="true" sz="1962">
                <a:solidFill>
                  <a:srgbClr val="FC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A) Derrubar árvores e galhos sobre a rede elétrica.</a:t>
            </a:r>
          </a:p>
          <a:p>
            <a:pPr algn="ctr">
              <a:lnSpc>
                <a:spcPts val="2747"/>
              </a:lnSpc>
            </a:pPr>
            <a:r>
              <a:rPr lang="en-US" b="true" sz="1962">
                <a:solidFill>
                  <a:srgbClr val="FC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B) Aumentar a umidade do ar e desligar os medidores.</a:t>
            </a:r>
          </a:p>
          <a:p>
            <a:pPr algn="ctr">
              <a:lnSpc>
                <a:spcPts val="2747"/>
              </a:lnSpc>
            </a:pPr>
            <a:r>
              <a:rPr lang="en-US" b="true" sz="1962">
                <a:solidFill>
                  <a:srgbClr val="FC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C) Diminuir a temperatura dos fios e interromper a energia.</a:t>
            </a:r>
          </a:p>
          <a:p>
            <a:pPr algn="ctr">
              <a:lnSpc>
                <a:spcPts val="2747"/>
              </a:lnSpc>
            </a:pPr>
            <a:r>
              <a:rPr lang="en-US" b="true" sz="1962">
                <a:solidFill>
                  <a:srgbClr val="FC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D) Fazer a eletricidade circular mais rapidamente pelos fios.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266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74168" y="4270579"/>
            <a:ext cx="5611161" cy="39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que é um deslizamento de terra?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5732604" y="5663238"/>
            <a:ext cx="2913265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a)É quando uma grande quantidade de terra, pedras ou rochas se movimenta encosta abaixo.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42660" y="5687486"/>
            <a:ext cx="2374532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b) É quando a água da chuva se acumula em locais mais baixos, causando alagamentos.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05748" y="7110148"/>
            <a:ext cx="2366977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É quando um rio aumenta de nível e transborda para as áreas próximas.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93022" y="7110148"/>
            <a:ext cx="2273807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É quando o vento e a chuva desgastam a superfície do solo ao longo do tempo.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2218691" y="2740997"/>
            <a:ext cx="1683551" cy="1431019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 rot="0">
            <a:off x="522882" y="675507"/>
            <a:ext cx="1316437" cy="131643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21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804745" y="4123219"/>
            <a:ext cx="6070442" cy="156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Qual destas situações pode deixar uma encosta mais vulnerável a deslizamentos?</a:t>
            </a:r>
          </a:p>
          <a:p>
            <a:pPr algn="ctr">
              <a:lnSpc>
                <a:spcPts val="3080"/>
              </a:lnSpc>
            </a:pPr>
          </a:p>
          <a:p>
            <a:pPr algn="ctr">
              <a:lnSpc>
                <a:spcPts val="3080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5942038" y="5910888"/>
            <a:ext cx="2494396" cy="5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A presença de árvores e outras plantas.</a:t>
            </a: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23610" y="5910875"/>
            <a:ext cx="2455882" cy="5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b) A retirada da vegetação do local.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05572" y="7231806"/>
            <a:ext cx="2398733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O direcionamento adequado da água da chuva..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89258" y="7355631"/>
            <a:ext cx="1739622" cy="5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Preservação das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áreas de encosta.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22882" y="675507"/>
            <a:ext cx="1316437" cy="131643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21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2480365" y="2570207"/>
            <a:ext cx="2057647" cy="17490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6074168" y="4174672"/>
            <a:ext cx="5611161" cy="78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Qual situação pode aumentar o risco de enchentes em uma cidade?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74297" y="5910875"/>
            <a:ext cx="1757005" cy="5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Aumento das áreas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verdes.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67958" y="5910888"/>
            <a:ext cx="1582222" cy="5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Preservação das 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margens dos rios.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30771" y="7214025"/>
            <a:ext cx="2116931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Impermeabilização do </a:t>
            </a:r>
          </a:p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solo com ruas, calçada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 e construções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41506" y="7355631"/>
            <a:ext cx="1635125" cy="25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Plantio de árvores.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22882" y="675507"/>
            <a:ext cx="1316437" cy="131643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21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174297" y="3998759"/>
            <a:ext cx="5611161" cy="1268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Depois de vários dias de chuva, aparecem rachaduras no terreno e nas paredes de uma casa localizada em uma encosta. O que isso pode indicar?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400487" y="6034713"/>
            <a:ext cx="1577499" cy="5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Que o terreno 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está mais seguro.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75203" y="6034700"/>
            <a:ext cx="2167731" cy="5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Que a casa está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ficando mais resistente.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56706" y="7214025"/>
            <a:ext cx="2272665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Possíveis sinais de </a:t>
            </a:r>
          </a:p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movimentação do solo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e risco de deslizamento.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17547" y="7355631"/>
            <a:ext cx="1483042" cy="5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Que a chuva 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está diminuindo.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2218691" y="2740997"/>
            <a:ext cx="1683551" cy="1431019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 rot="0">
            <a:off x="522882" y="675507"/>
            <a:ext cx="1316437" cy="131643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21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266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174297" y="4200707"/>
            <a:ext cx="5611161" cy="72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Por que é importante conhecer os riscos do lugar onde moramos?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021130" y="5787050"/>
            <a:ext cx="2358932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Para saber exatamente quando um evento climático vai acontecer.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09188" y="5697011"/>
            <a:ext cx="1899761" cy="919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Para saber como se</a:t>
            </a:r>
          </a:p>
          <a:p>
            <a:pPr algn="ctr">
              <a:lnSpc>
                <a:spcPts val="1820"/>
              </a:lnSpc>
            </a:pPr>
            <a:r>
              <a:rPr lang="en-US" sz="1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preparar e agir diante</a:t>
            </a:r>
          </a:p>
          <a:p>
            <a:pPr algn="ctr">
              <a:lnSpc>
                <a:spcPts val="1820"/>
              </a:lnSpc>
            </a:pPr>
            <a:r>
              <a:rPr lang="en-US" sz="1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de uma situação </a:t>
            </a:r>
          </a:p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b="true" sz="1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 emergência.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32956" y="7214025"/>
            <a:ext cx="2335279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Para evitar sair de casa sempre que houver previsão de chuva.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09188" y="7085887"/>
            <a:ext cx="1906786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Para decidir sozinho o que toda a comunidade deve fazer.</a:t>
            </a: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22882" y="675507"/>
            <a:ext cx="1316437" cy="131643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21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183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62231" y="3799330"/>
            <a:ext cx="11163538" cy="232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60"/>
              </a:lnSpc>
            </a:pPr>
            <a:r>
              <a:rPr lang="en-US" sz="12828" b="true">
                <a:solidFill>
                  <a:srgbClr val="87A3AE"/>
                </a:solidFill>
                <a:latin typeface="Poppins Bold"/>
                <a:ea typeface="Poppins Bold"/>
                <a:cs typeface="Poppins Bold"/>
                <a:sym typeface="Poppins Bold"/>
              </a:rPr>
              <a:t>PREPARAÇÃO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365187" y="8600082"/>
            <a:ext cx="1316437" cy="131643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8A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44268" y="4261054"/>
            <a:ext cx="4452104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que é uma rota de fuga?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54837" y="5663238"/>
            <a:ext cx="2149468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 Um caminho utilizado apenas pelos profissionais de emergência.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16948" y="7209712"/>
            <a:ext cx="2344577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c) caminho seguro para sair de um local em emergência.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03155" y="5663238"/>
            <a:ext cx="2070983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b) Caminho mais rápido para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chegar a qualquer lugar.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03155" y="7061625"/>
            <a:ext cx="2092792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Caminho escolhido para evitar 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trânsito em situações normais.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2023219" y="2737176"/>
            <a:ext cx="1871238" cy="1590553"/>
          </a:xfrm>
          <a:prstGeom prst="rect">
            <a:avLst/>
          </a:prstGeom>
          <a:ln w="66675" cap="sq">
            <a:solidFill>
              <a:srgbClr val="00BF63"/>
            </a:solidFill>
            <a:prstDash val="dash"/>
          </a:ln>
        </p:spPr>
      </p:pic>
      <p:grpSp>
        <p:nvGrpSpPr>
          <p:cNvPr name="Group 21" id="21"/>
          <p:cNvGrpSpPr/>
          <p:nvPr/>
        </p:nvGrpSpPr>
        <p:grpSpPr>
          <a:xfrm rot="0">
            <a:off x="370482" y="523107"/>
            <a:ext cx="1316437" cy="131643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8AB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63723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63723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174297" y="4155159"/>
            <a:ext cx="5587654" cy="1280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(V ou F) Se avisarem que vem granizo, colocar o carro na garagem e recolher animais e objetos do quintal ajuda a evitar prejuízos.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608688" y="6720513"/>
            <a:ext cx="1161097" cy="25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Verdadeiro *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28960" y="6720513"/>
            <a:ext cx="460216" cy="25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Falso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70482" y="1028700"/>
            <a:ext cx="1316437" cy="131643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8AB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74168" y="4194339"/>
            <a:ext cx="5782943" cy="107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Por que jogar lixo em encostas e desmatar morros aumenta o risco de deslizamento?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154137" y="5644188"/>
            <a:ext cx="2070200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a)Porque o lixo impede completamente que a água entre no solo.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957421" y="7094527"/>
            <a:ext cx="2463630" cy="149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Porque o desmatamento faz a chuva parar de penetrar no solo.</a:t>
            </a:r>
          </a:p>
          <a:p>
            <a:pPr algn="ctr">
              <a:lnSpc>
                <a:spcPts val="1960"/>
              </a:lnSpc>
            </a:pP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5638964"/>
            <a:ext cx="2309634" cy="174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b) A falta de raízes reduz a sustentação do solo, enquanto o lixo retém água e adiciona peso extra ao morro</a:t>
            </a:r>
          </a:p>
          <a:p>
            <a:pPr algn="ctr">
              <a:lnSpc>
                <a:spcPts val="1960"/>
              </a:lnSpc>
            </a:pP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202287" y="7061625"/>
            <a:ext cx="2003100" cy="125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Porque o lixo e a falta de árvores tornam o solo sempre mais seco.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1377" y="1028700"/>
            <a:ext cx="1316437" cy="131643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8AB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1896990" y="2492717"/>
            <a:ext cx="1871238" cy="1590553"/>
          </a:xfrm>
          <a:prstGeom prst="rect">
            <a:avLst/>
          </a:prstGeom>
          <a:ln w="66675" cap="sq">
            <a:solidFill>
              <a:srgbClr val="00BF63"/>
            </a:solidFill>
            <a:prstDash val="dash"/>
          </a:ln>
        </p:spPr>
      </p:pic>
      <p:sp>
        <p:nvSpPr>
          <p:cNvPr name="TextBox 16" id="16"/>
          <p:cNvSpPr txBox="true"/>
          <p:nvPr/>
        </p:nvSpPr>
        <p:spPr>
          <a:xfrm rot="0">
            <a:off x="6132139" y="3929562"/>
            <a:ext cx="5782943" cy="126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Qual destes conjuntos de itens é mais adequado para um kit de emergência?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92651" y="5929068"/>
            <a:ext cx="2061024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Roupas, jogos, perfume e água.</a:t>
            </a:r>
          </a:p>
          <a:p>
            <a:pPr algn="ctr">
              <a:lnSpc>
                <a:spcPts val="1960"/>
              </a:lnSpc>
            </a:pP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6224755" y="7169856"/>
            <a:ext cx="2028920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 Perfume, brinquedos, cobertor e alimentos.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0" y="5868461"/>
            <a:ext cx="2230137" cy="919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b) Documentos, lanterna, água, medicamentos</a:t>
            </a:r>
          </a:p>
          <a:p>
            <a:pPr algn="ctr">
              <a:lnSpc>
                <a:spcPts val="1820"/>
              </a:lnSpc>
            </a:pPr>
          </a:p>
          <a:p>
            <a:pPr algn="ctr">
              <a:lnSpc>
                <a:spcPts val="1820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8904524" y="7245140"/>
            <a:ext cx="2695671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Cadernos, brinquedos, lanterna e roupas </a:t>
            </a:r>
          </a:p>
          <a:p>
            <a:pPr algn="ctr">
              <a:lnSpc>
                <a:spcPts val="1960"/>
              </a:lnSpc>
            </a:pP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370482" y="523107"/>
            <a:ext cx="1316437" cy="131643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8AB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192651" y="4136109"/>
            <a:ext cx="5423745" cy="126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Como devem ser guardados os documentos e remédios no kit?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076225" y="5852868"/>
            <a:ext cx="2228080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Em uma gaveta, fora do kit.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174297" y="7147350"/>
            <a:ext cx="1991567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Em outro cômodo, separados dos demais itens.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5852868"/>
            <a:ext cx="2230137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b) Em um saco plástico fechado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093205" y="7147350"/>
            <a:ext cx="2331728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Envolvidos em papel e colocados no fundo da mala.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1896990" y="2492717"/>
            <a:ext cx="1871238" cy="1590553"/>
          </a:xfrm>
          <a:prstGeom prst="rect">
            <a:avLst/>
          </a:prstGeom>
          <a:ln w="66675" cap="sq">
            <a:solidFill>
              <a:srgbClr val="00BF63"/>
            </a:solidFill>
            <a:prstDash val="dash"/>
          </a:ln>
        </p:spPr>
      </p:pic>
      <p:grpSp>
        <p:nvGrpSpPr>
          <p:cNvPr name="Group 21" id="21"/>
          <p:cNvGrpSpPr/>
          <p:nvPr/>
        </p:nvGrpSpPr>
        <p:grpSpPr>
          <a:xfrm rot="0">
            <a:off x="370482" y="523107"/>
            <a:ext cx="1316437" cy="131643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8AB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353386" y="4200707"/>
            <a:ext cx="5340449" cy="72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Além de água e lanterna, qual item ajuda a pedir socorro chamando atenção?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7209712"/>
            <a:ext cx="2218644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d) Um apito, para produzir um som que chame a atenção.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108541" y="7357798"/>
            <a:ext cx="2116296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Uma garrafa vazia, para fazer barulho.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220804" y="5811311"/>
            <a:ext cx="2076529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b) Um tecido colorido, para sinalizar visualmente.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74297" y="5935136"/>
            <a:ext cx="1984784" cy="5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um carregador sem bateria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1896990" y="2492717"/>
            <a:ext cx="1871238" cy="1590553"/>
          </a:xfrm>
          <a:prstGeom prst="rect">
            <a:avLst/>
          </a:prstGeom>
          <a:ln w="66675" cap="sq">
            <a:solidFill>
              <a:srgbClr val="00BF63"/>
            </a:solidFill>
            <a:prstDash val="dash"/>
          </a:ln>
        </p:spPr>
      </p:pic>
      <p:grpSp>
        <p:nvGrpSpPr>
          <p:cNvPr name="Group 21" id="21"/>
          <p:cNvGrpSpPr/>
          <p:nvPr/>
        </p:nvGrpSpPr>
        <p:grpSpPr>
          <a:xfrm rot="0">
            <a:off x="522882" y="675507"/>
            <a:ext cx="1316437" cy="131643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8AB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192651" y="4145634"/>
            <a:ext cx="5782943" cy="1009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Por que é importante combinar um ponto de encontro com a família ANTES de uma emergência?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74168" y="7061625"/>
            <a:ext cx="2394998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c) Para que todos saibam onde se encontrar caso não consigam permanecer juntos.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52573" y="7144315"/>
            <a:ext cx="2221706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Para que cada pessoa possa seguir para o local sem precisar avisar ninguém.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84123" y="5663225"/>
            <a:ext cx="2230279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b) Para escolher um local onde a família possa acompanhar o desastre de perto.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74168" y="5646351"/>
            <a:ext cx="2230137" cy="125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Para ter um lugar definido para guardar os itens do kit de emergência.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1896990" y="2492717"/>
            <a:ext cx="1871238" cy="1590553"/>
          </a:xfrm>
          <a:prstGeom prst="rect">
            <a:avLst/>
          </a:prstGeom>
          <a:ln w="66675" cap="sq">
            <a:solidFill>
              <a:srgbClr val="00BF63"/>
            </a:solidFill>
            <a:prstDash val="dash"/>
          </a:ln>
        </p:spPr>
      </p:pic>
      <p:grpSp>
        <p:nvGrpSpPr>
          <p:cNvPr name="Group 21" id="21"/>
          <p:cNvGrpSpPr/>
          <p:nvPr/>
        </p:nvGrpSpPr>
        <p:grpSpPr>
          <a:xfrm rot="0">
            <a:off x="551457" y="675507"/>
            <a:ext cx="1316437" cy="131643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8AB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904022" y="4018444"/>
            <a:ext cx="6242185" cy="117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Por que é importante saber o telefone de um adulto de confiança em uma situação de emergência?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39017" y="5638964"/>
            <a:ext cx="1991130" cy="125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a) Para poder pedir ajuda e informar onde você está caso precise. 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5987442" y="7110148"/>
            <a:ext cx="2403589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Para avisar aos amigos onde você está durante uma emergência.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243541" y="5638964"/>
            <a:ext cx="2031056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b) Para conseguir sair sozinho de qualquer situação sem precisar procurar ajuda.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13395" y="7061625"/>
            <a:ext cx="1891348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Para ter alguém para conversar enquanto espera a situação passar.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1896990" y="2492717"/>
            <a:ext cx="1871238" cy="1590553"/>
          </a:xfrm>
          <a:prstGeom prst="rect">
            <a:avLst/>
          </a:prstGeom>
          <a:ln w="66675" cap="sq">
            <a:solidFill>
              <a:srgbClr val="00BF63"/>
            </a:solidFill>
            <a:prstDash val="dash"/>
          </a:ln>
        </p:spPr>
      </p:pic>
      <p:grpSp>
        <p:nvGrpSpPr>
          <p:cNvPr name="Group 21" id="21"/>
          <p:cNvGrpSpPr/>
          <p:nvPr/>
        </p:nvGrpSpPr>
        <p:grpSpPr>
          <a:xfrm rot="0">
            <a:off x="522882" y="675507"/>
            <a:ext cx="1316437" cy="131643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8AB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192651" y="4145634"/>
            <a:ext cx="5611161" cy="78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que é um Plano de Contingência Escolar?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98798" y="5634724"/>
            <a:ext cx="2780876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a) Um conjunto de orientações para a escola agir antes, durante e depois de uma emergência.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74297" y="7209712"/>
            <a:ext cx="1903892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Um calendário com as atividades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 eventos da escola.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45613" y="7209712"/>
            <a:ext cx="2426912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Um material com histórias sobre situações de emergência.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336535" y="5687486"/>
            <a:ext cx="1942661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b) Um documento usado para registrar a presença dos alunos.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1896990" y="2492717"/>
            <a:ext cx="1871238" cy="1590553"/>
          </a:xfrm>
          <a:prstGeom prst="rect">
            <a:avLst/>
          </a:prstGeom>
          <a:ln w="66675" cap="sq">
            <a:solidFill>
              <a:srgbClr val="00BF63"/>
            </a:solidFill>
            <a:prstDash val="dash"/>
          </a:ln>
        </p:spPr>
      </p:pic>
      <p:grpSp>
        <p:nvGrpSpPr>
          <p:cNvPr name="Group 21" id="21"/>
          <p:cNvGrpSpPr/>
          <p:nvPr/>
        </p:nvGrpSpPr>
        <p:grpSpPr>
          <a:xfrm rot="0">
            <a:off x="522882" y="675507"/>
            <a:ext cx="1316437" cy="131643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8AB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192651" y="4145634"/>
            <a:ext cx="5611161" cy="78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que deve fazer parte de uma mochila de emergência?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33194" y="5687486"/>
            <a:ext cx="2583996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a) Água, lanterna, documentos, medicamentos necessário e alimentos não perecíveis.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51722" y="5787050"/>
            <a:ext cx="2322415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b) Água, roupas extras, jogos e alimentos congelados..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74168" y="7209712"/>
            <a:ext cx="2102048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Frutas, bebidas, roupas e alimentos frescos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68664" y="7214025"/>
            <a:ext cx="2088531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Eletrônicos, ferramentas, cadernos e objetos pessoais.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1896990" y="2492717"/>
            <a:ext cx="1871238" cy="1590553"/>
          </a:xfrm>
          <a:prstGeom prst="rect">
            <a:avLst/>
          </a:prstGeom>
          <a:ln w="66675" cap="sq">
            <a:solidFill>
              <a:srgbClr val="00BF63"/>
            </a:solidFill>
            <a:prstDash val="dash"/>
          </a:ln>
        </p:spPr>
      </p:pic>
      <p:grpSp>
        <p:nvGrpSpPr>
          <p:cNvPr name="Group 21" id="21"/>
          <p:cNvGrpSpPr/>
          <p:nvPr/>
        </p:nvGrpSpPr>
        <p:grpSpPr>
          <a:xfrm rot="0">
            <a:off x="522882" y="675507"/>
            <a:ext cx="1316437" cy="131643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8AB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37227" y="4989831"/>
            <a:ext cx="3613547" cy="25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Guardados na geladeira por alguns dias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5904022" y="3942244"/>
            <a:ext cx="5901426" cy="117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Antes de uma possível enchente, qual atitude pode ajudar a família a reduzir os riscos e proteger seus pertences?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93879" y="5687486"/>
            <a:ext cx="2590716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a) Guardar documentos e itens essenciais em um local seguro e mais alto.o.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0" y="5663225"/>
            <a:ext cx="2157642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b) Deixar os objetos importantes próximos às portas para facilitar a saída da casa.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74168" y="7261650"/>
            <a:ext cx="2197095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c)Esperar a água subir para decidir onde guardar os objetos.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93408" y="7099725"/>
            <a:ext cx="2531322" cy="149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d)Manter os itens de emergência em locais baixos para encontrá-los facilmente</a:t>
            </a:r>
          </a:p>
          <a:p>
            <a:pPr algn="ctr">
              <a:lnSpc>
                <a:spcPts val="1960"/>
              </a:lnSpc>
            </a:pP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2023219" y="2737176"/>
            <a:ext cx="1871238" cy="1590553"/>
          </a:xfrm>
          <a:prstGeom prst="rect">
            <a:avLst/>
          </a:prstGeom>
          <a:ln w="66675" cap="sq">
            <a:solidFill>
              <a:srgbClr val="00BF63"/>
            </a:solidFill>
            <a:prstDash val="dash"/>
          </a:ln>
        </p:spPr>
      </p:pic>
      <p:grpSp>
        <p:nvGrpSpPr>
          <p:cNvPr name="Group 22" id="22"/>
          <p:cNvGrpSpPr/>
          <p:nvPr/>
        </p:nvGrpSpPr>
        <p:grpSpPr>
          <a:xfrm rot="0">
            <a:off x="522882" y="675507"/>
            <a:ext cx="1316437" cy="131643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8AB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3527" y="0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0"/>
                </a:lnTo>
                <a:lnTo>
                  <a:pt x="0" y="10373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85437" y="3952758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71205" y="3319452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4" y="0"/>
                </a:lnTo>
                <a:lnTo>
                  <a:pt x="1306414" y="1306413"/>
                </a:lnTo>
                <a:lnTo>
                  <a:pt x="0" y="13064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54136" y="3546328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94558" y="5718047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64390" y="5718047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194558" y="714070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264390" y="714070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475200" y="3972658"/>
            <a:ext cx="1449934" cy="1516937"/>
            <a:chOff x="0" y="0"/>
            <a:chExt cx="1933246" cy="202258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2038790" y="2428194"/>
            <a:ext cx="2263202" cy="1923722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6194558" y="4126128"/>
            <a:ext cx="5611161" cy="78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Quando há previsão de ventos fortes, qual atitude é mais preventiva?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94558" y="5818521"/>
            <a:ext cx="2170033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Permanecer em áreas abertas para observar o fenômeno.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35601" y="5694696"/>
            <a:ext cx="1887716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b) Retirar ou proteger objetos que possam ser levados pelo vento.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49155" y="7093084"/>
            <a:ext cx="1920944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Ficar próximo a árvores para se proteger das rajadas.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64390" y="7241170"/>
            <a:ext cx="2328853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Deixar portas e janelas abertas para diminuir a pressão do vento.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1817379" y="2550490"/>
            <a:ext cx="2269127" cy="1928758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2023219" y="2737176"/>
            <a:ext cx="1871238" cy="1590553"/>
          </a:xfrm>
          <a:prstGeom prst="rect">
            <a:avLst/>
          </a:prstGeom>
          <a:ln w="66675" cap="sq">
            <a:solidFill>
              <a:srgbClr val="00BF63"/>
            </a:solidFill>
            <a:prstDash val="dash"/>
          </a:ln>
        </p:spPr>
      </p:pic>
      <p:grpSp>
        <p:nvGrpSpPr>
          <p:cNvPr name="Group 23" id="23"/>
          <p:cNvGrpSpPr/>
          <p:nvPr/>
        </p:nvGrpSpPr>
        <p:grpSpPr>
          <a:xfrm rot="0">
            <a:off x="522882" y="675507"/>
            <a:ext cx="1316437" cy="1316437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8AB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4002" y="0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0"/>
                </a:lnTo>
                <a:lnTo>
                  <a:pt x="0" y="10373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85437" y="3952758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71205" y="3319452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4" y="0"/>
                </a:lnTo>
                <a:lnTo>
                  <a:pt x="1306414" y="1306413"/>
                </a:lnTo>
                <a:lnTo>
                  <a:pt x="0" y="13064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54136" y="3546328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94558" y="5718047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64390" y="5718047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194558" y="714070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264390" y="714070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475200" y="3972658"/>
            <a:ext cx="1449934" cy="1516937"/>
            <a:chOff x="0" y="0"/>
            <a:chExt cx="1933246" cy="202258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2316819" y="2324750"/>
            <a:ext cx="2154013" cy="1830911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6194558" y="4126128"/>
            <a:ext cx="5611161" cy="78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 uma emergência climática, qual combinação é mais útil?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44228" y="5818521"/>
            <a:ext cx="1930798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a) Lanterna, água potável e um meio de comunicação.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35601" y="5942346"/>
            <a:ext cx="1887716" cy="5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b) Celular, jogos e fones de ouvido.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94687" y="7241170"/>
            <a:ext cx="1920944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Roupas, brinquedos e alimentos frescos.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49995" y="7369309"/>
            <a:ext cx="2058927" cy="5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Cobertor, livros e aparelhos eletrônicos.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2023219" y="2737176"/>
            <a:ext cx="1871238" cy="1590553"/>
          </a:xfrm>
          <a:prstGeom prst="rect">
            <a:avLst/>
          </a:prstGeom>
          <a:ln w="66675" cap="sq">
            <a:solidFill>
              <a:srgbClr val="00BF63"/>
            </a:solidFill>
            <a:prstDash val="dash"/>
          </a:ln>
        </p:spPr>
      </p:pic>
      <p:grpSp>
        <p:nvGrpSpPr>
          <p:cNvPr name="Group 22" id="22"/>
          <p:cNvGrpSpPr/>
          <p:nvPr/>
        </p:nvGrpSpPr>
        <p:grpSpPr>
          <a:xfrm rot="0">
            <a:off x="522882" y="675507"/>
            <a:ext cx="1316437" cy="131643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8AB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74168" y="4270579"/>
            <a:ext cx="5611161" cy="78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que significa ter resiliência diante de um desastre climático?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113388" y="5787063"/>
            <a:ext cx="2151698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Conseguir evitar que 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qualquer desastre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aconteça.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93670" y="7214025"/>
            <a:ext cx="2391132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Ignorar os riscos porque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eles acontecem 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raramente.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63634" y="7209712"/>
            <a:ext cx="2190869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Esperar que somente 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os órgãos públicos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resolvam o problema.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32407" y="675507"/>
            <a:ext cx="1316437" cy="131643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8AB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195649" y="5687486"/>
            <a:ext cx="2064180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b) Conseguir se preparar, enfrentar a situação, adaptar-se e se recuperar.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14590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0"/>
                </a:lnTo>
                <a:lnTo>
                  <a:pt x="0" y="10373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74168" y="4270579"/>
            <a:ext cx="5611161" cy="78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Por que a vegetação pode ajudar na estabilidade de uma encosta?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166192" y="5787063"/>
            <a:ext cx="2046089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Porque aumenta o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peso do solo e 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facilita o deslizamento.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41918" y="5663225"/>
            <a:ext cx="2034302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b)  Porque suas raízes </a:t>
            </a:r>
          </a:p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ajudam a segurar o</a:t>
            </a:r>
          </a:p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solo e reduzir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processos erosivos.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55297" y="7155606"/>
            <a:ext cx="2286595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Porque impede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completamente a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entrada de água no solo.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84495" y="7209712"/>
            <a:ext cx="1749147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Porque elimina a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necessidade de 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drenagem.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22882" y="675507"/>
            <a:ext cx="1316437" cy="131643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8AB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74168" y="4174672"/>
            <a:ext cx="5611161" cy="78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Qual das atitudes abaixo representa uma comunidade mais resiliente?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5753879" y="5787050"/>
            <a:ext cx="2870716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Evitar falar sobre os riscos para não preocupar os moradores.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79748" y="5717967"/>
            <a:ext cx="2901224" cy="125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b) Criar planos de</a:t>
            </a:r>
          </a:p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emergência, conhecer </a:t>
            </a:r>
          </a:p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rotas de saída e</a:t>
            </a:r>
          </a:p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participar de ações 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 prevenção.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20782" y="7214025"/>
            <a:ext cx="1936909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Esperar o desastre 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acontecer para 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decidir o que fazer.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04040" y="7333537"/>
            <a:ext cx="2510057" cy="5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Construir em áreas de risco sem planejamento.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22882" y="675507"/>
            <a:ext cx="1316437" cy="131643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8AB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183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658478"/>
            <a:ext cx="18288000" cy="4598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60"/>
              </a:lnSpc>
            </a:pPr>
            <a:r>
              <a:rPr lang="en-US" sz="12828" b="true">
                <a:solidFill>
                  <a:srgbClr val="87A3AE"/>
                </a:solidFill>
                <a:latin typeface="Poppins Bold"/>
                <a:ea typeface="Poppins Bold"/>
                <a:cs typeface="Poppins Bold"/>
                <a:sym typeface="Poppins Bold"/>
              </a:rPr>
              <a:t>DURANTE O EVENTO CLIMÁTICO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601082" y="8600082"/>
            <a:ext cx="1316437" cy="131643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299430" y="4270579"/>
            <a:ext cx="5448360" cy="1170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começar a cair granizo enquanto você está na rua, qual é a atitude mais segura?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210484" y="5787050"/>
            <a:ext cx="2065784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Ficar próximo a árvores para se proteger das pedras.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74168" y="7214025"/>
            <a:ext cx="2202101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c) Procurar um abrigo seguro e evitar ficar em áreas abertas.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023610" y="5787050"/>
            <a:ext cx="2558644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b) Permanecer em local aberto e proteger a cabeça com as mãos.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7090200"/>
            <a:ext cx="2230137" cy="125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Continuar o trajeto rapidamente para chegar ao destino.</a:t>
            </a:r>
          </a:p>
          <a:p>
            <a:pPr algn="ctr">
              <a:lnSpc>
                <a:spcPts val="1960"/>
              </a:lnSpc>
            </a:pP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803608" y="8970563"/>
            <a:ext cx="1316437" cy="131643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904022" y="4313110"/>
            <a:ext cx="5931595" cy="64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começar a cair granizo enquanto você estiver dentro do carro, o que deve fazer?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92791" y="5701124"/>
            <a:ext cx="2392891" cy="100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3"/>
              </a:lnSpc>
            </a:pPr>
            <a:r>
              <a:rPr lang="en-US" sz="11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Pedir ao motorista para seguir por uma via alternativa, mesmo que haja água acumulada no caminho.</a:t>
            </a:r>
          </a:p>
          <a:p>
            <a:pPr algn="ctr">
              <a:lnSpc>
                <a:spcPts val="1583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089933" y="7085887"/>
            <a:ext cx="2214372" cy="125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Pedir ao motorista para continuar devagar, observando o nível da água na pista.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0" y="5709593"/>
            <a:ext cx="2230137" cy="919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b="true" sz="1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b) Pedir ao motorista para parar em um local seguro e protegido, longe de áreas de risco.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0" y="7085887"/>
            <a:ext cx="2445685" cy="125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Pedir ao motorista para parar próximo a árvores ou postes, evitando ficar no meio da chuva.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2023219" y="2737176"/>
            <a:ext cx="1871238" cy="1590553"/>
          </a:xfrm>
          <a:prstGeom prst="rect">
            <a:avLst/>
          </a:prstGeom>
          <a:ln w="66675" cap="sq">
            <a:solidFill>
              <a:srgbClr val="00BF63"/>
            </a:solidFill>
            <a:prstDash val="dash"/>
          </a:ln>
        </p:spPr>
      </p:pic>
      <p:grpSp>
        <p:nvGrpSpPr>
          <p:cNvPr name="Group 21" id="21"/>
          <p:cNvGrpSpPr/>
          <p:nvPr/>
        </p:nvGrpSpPr>
        <p:grpSpPr>
          <a:xfrm rot="0">
            <a:off x="16971563" y="8827747"/>
            <a:ext cx="1316437" cy="131643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505559" y="328621"/>
            <a:ext cx="3912806" cy="5981662"/>
            <a:chOff x="0" y="0"/>
            <a:chExt cx="1030533" cy="15754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30533" cy="1575417"/>
            </a:xfrm>
            <a:custGeom>
              <a:avLst/>
              <a:gdLst/>
              <a:ahLst/>
              <a:cxnLst/>
              <a:rect r="r" b="b" t="t" l="l"/>
              <a:pathLst>
                <a:path h="1575417" w="1030533">
                  <a:moveTo>
                    <a:pt x="100909" y="0"/>
                  </a:moveTo>
                  <a:lnTo>
                    <a:pt x="929624" y="0"/>
                  </a:lnTo>
                  <a:cubicBezTo>
                    <a:pt x="985355" y="0"/>
                    <a:pt x="1030533" y="45179"/>
                    <a:pt x="1030533" y="100909"/>
                  </a:cubicBezTo>
                  <a:lnTo>
                    <a:pt x="1030533" y="1474508"/>
                  </a:lnTo>
                  <a:cubicBezTo>
                    <a:pt x="1030533" y="1530239"/>
                    <a:pt x="985355" y="1575417"/>
                    <a:pt x="929624" y="1575417"/>
                  </a:cubicBezTo>
                  <a:lnTo>
                    <a:pt x="100909" y="1575417"/>
                  </a:lnTo>
                  <a:cubicBezTo>
                    <a:pt x="45179" y="1575417"/>
                    <a:pt x="0" y="1530239"/>
                    <a:pt x="0" y="1474508"/>
                  </a:cubicBezTo>
                  <a:lnTo>
                    <a:pt x="0" y="100909"/>
                  </a:lnTo>
                  <a:cubicBezTo>
                    <a:pt x="0" y="45179"/>
                    <a:pt x="45179" y="0"/>
                    <a:pt x="100909" y="0"/>
                  </a:cubicBezTo>
                  <a:close/>
                </a:path>
              </a:pathLst>
            </a:custGeom>
            <a:solidFill>
              <a:srgbClr val="FFD21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030533" cy="1623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838939" y="864989"/>
            <a:ext cx="3246047" cy="4798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7"/>
              </a:lnSpc>
            </a:pPr>
            <a:r>
              <a:rPr lang="en-US" sz="1962" b="true">
                <a:solidFill>
                  <a:srgbClr val="FC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</a:t>
            </a:r>
            <a:r>
              <a:rPr lang="en-US" sz="1962" b="true">
                <a:solidFill>
                  <a:srgbClr val="FC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UGESTÃO: </a:t>
            </a:r>
          </a:p>
          <a:p>
            <a:pPr algn="ctr">
              <a:lnSpc>
                <a:spcPts val="2747"/>
              </a:lnSpc>
            </a:pPr>
            <a:r>
              <a:rPr lang="en-US" sz="1962" b="true">
                <a:solidFill>
                  <a:srgbClr val="FC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A) Continuar dirigindo até chegar ao destino.</a:t>
            </a:r>
          </a:p>
          <a:p>
            <a:pPr algn="ctr">
              <a:lnSpc>
                <a:spcPts val="2747"/>
              </a:lnSpc>
            </a:pPr>
          </a:p>
          <a:p>
            <a:pPr algn="ctr">
              <a:lnSpc>
                <a:spcPts val="2747"/>
              </a:lnSpc>
            </a:pPr>
            <a:r>
              <a:rPr lang="en-US" sz="1962" b="true">
                <a:solidFill>
                  <a:srgbClr val="FC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B) Parar em um local seguro e permanecer dentro do veículo.</a:t>
            </a:r>
          </a:p>
          <a:p>
            <a:pPr algn="ctr">
              <a:lnSpc>
                <a:spcPts val="2747"/>
              </a:lnSpc>
            </a:pPr>
          </a:p>
          <a:p>
            <a:pPr algn="ctr">
              <a:lnSpc>
                <a:spcPts val="2747"/>
              </a:lnSpc>
            </a:pPr>
            <a:r>
              <a:rPr lang="en-US" sz="1962" b="true">
                <a:solidFill>
                  <a:srgbClr val="FC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C) Sair do carro para verificar os danos.</a:t>
            </a:r>
          </a:p>
          <a:p>
            <a:pPr algn="ctr">
              <a:lnSpc>
                <a:spcPts val="2747"/>
              </a:lnSpc>
            </a:pPr>
          </a:p>
          <a:p>
            <a:pPr algn="ctr">
              <a:lnSpc>
                <a:spcPts val="2747"/>
              </a:lnSpc>
            </a:pPr>
            <a:r>
              <a:rPr lang="en-US" sz="1962" b="true">
                <a:solidFill>
                  <a:srgbClr val="FC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D) Parar embaixo de uma árvore para proteger o veículo.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74168" y="4204970"/>
            <a:ext cx="5901426" cy="852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Qual número aciona os Bombeiros?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859513" y="6034713"/>
            <a:ext cx="659448" cy="5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a) 193 *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907217" y="7461675"/>
            <a:ext cx="564039" cy="5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300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022055" y="6034713"/>
            <a:ext cx="474027" cy="5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b) 911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994829" y="7457362"/>
            <a:ext cx="528479" cy="5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145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2023219" y="2737176"/>
            <a:ext cx="1871238" cy="1590553"/>
          </a:xfrm>
          <a:prstGeom prst="rect">
            <a:avLst/>
          </a:prstGeom>
          <a:ln w="66675" cap="sq">
            <a:solidFill>
              <a:srgbClr val="00BF63"/>
            </a:solidFill>
            <a:prstDash val="dash"/>
          </a:ln>
        </p:spPr>
      </p:pic>
      <p:grpSp>
        <p:nvGrpSpPr>
          <p:cNvPr name="Group 21" id="21"/>
          <p:cNvGrpSpPr/>
          <p:nvPr/>
        </p:nvGrpSpPr>
        <p:grpSpPr>
          <a:xfrm rot="0">
            <a:off x="16971563" y="8781819"/>
            <a:ext cx="1316437" cy="131643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3137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174297" y="4261014"/>
            <a:ext cx="5447615" cy="107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 qual situação você pode procurar a Defesa Civil?</a:t>
            </a:r>
          </a:p>
          <a:p>
            <a:pPr algn="ctr">
              <a:lnSpc>
                <a:spcPts val="2800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070329" y="5696563"/>
            <a:ext cx="2233976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Quando precisar de atendimento médico imediato.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43713" y="5687486"/>
            <a:ext cx="2430711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b) Quando precisar de orientações sobre riscos e situações de emergência na comunidade..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30296" y="7209712"/>
            <a:ext cx="2216006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Quando precisar resolver um problema de transporte escolar.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68145" y="7209712"/>
            <a:ext cx="2305993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Quando quiser saber o resultado de uma partida esportiva.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971563" y="8970563"/>
            <a:ext cx="1316437" cy="131643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3137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174297" y="4261014"/>
            <a:ext cx="5447615" cy="142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 qual situação você deve chamar os Bombeiros?</a:t>
            </a:r>
          </a:p>
          <a:p>
            <a:pPr algn="ctr">
              <a:lnSpc>
                <a:spcPts val="2800"/>
              </a:lnSpc>
            </a:pPr>
          </a:p>
          <a:p>
            <a:pPr algn="ctr">
              <a:lnSpc>
                <a:spcPts val="2800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012326" y="5663238"/>
            <a:ext cx="2233976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Quando quiser receber informações sobre a previsão do tempo.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43713" y="5687486"/>
            <a:ext cx="2430711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b) Quando houver uma emergência que envolva risco à vida ou necessidade de resgate.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30296" y="7209712"/>
            <a:ext cx="2216006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Quando precisar saber se vai chover no dia seguinte.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68145" y="7209712"/>
            <a:ext cx="2305993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Quando quiser informar que uma rua está com trânsito intenso.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971563" y="8970563"/>
            <a:ext cx="1316437" cy="131643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377265" y="4128770"/>
            <a:ext cx="5438219" cy="126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Durante a evacuação por risco de deslizamento, o mais correto é: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174297" y="5638964"/>
            <a:ext cx="2079149" cy="125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a)Tentar proteger os móveis pesados e colocá-los no ponto mais alto da casa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073709" y="7110148"/>
            <a:ext cx="2230596" cy="125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 Aguardar na varanda para verificar se o solo da encosta realmente vai ceder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023610" y="5601548"/>
            <a:ext cx="2608606" cy="125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b)Desligar o registro de gás e a chave geral de energia, pegando apenas documentos e remédios essenciais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28169" y="7110148"/>
            <a:ext cx="2061798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Trancar a casa por fora e buscar abrigo embaixo de árvores grandes na rua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2023219" y="2737176"/>
            <a:ext cx="1871238" cy="1590553"/>
          </a:xfrm>
          <a:prstGeom prst="rect">
            <a:avLst/>
          </a:prstGeom>
          <a:ln w="66675" cap="sq">
            <a:solidFill>
              <a:srgbClr val="00BF63"/>
            </a:solidFill>
            <a:prstDash val="dash"/>
          </a:ln>
        </p:spPr>
      </p:pic>
      <p:grpSp>
        <p:nvGrpSpPr>
          <p:cNvPr name="Group 21" id="21"/>
          <p:cNvGrpSpPr/>
          <p:nvPr/>
        </p:nvGrpSpPr>
        <p:grpSpPr>
          <a:xfrm rot="0">
            <a:off x="16803608" y="8804783"/>
            <a:ext cx="1316437" cy="131643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192651" y="4136109"/>
            <a:ext cx="5423745" cy="126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Qual número no Brasil você pode ligar para acionar a Defesa Civil?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858640" y="6034713"/>
            <a:ext cx="661194" cy="5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a) 199 *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930950" y="7461675"/>
            <a:ext cx="516573" cy="5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190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999354" y="6034713"/>
            <a:ext cx="519430" cy="5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b) 192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911406" y="7457362"/>
            <a:ext cx="695325" cy="25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0800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2023219" y="2737176"/>
            <a:ext cx="1871238" cy="1590553"/>
          </a:xfrm>
          <a:prstGeom prst="rect">
            <a:avLst/>
          </a:prstGeom>
          <a:ln w="66675" cap="sq">
            <a:solidFill>
              <a:srgbClr val="00BF63"/>
            </a:solidFill>
            <a:prstDash val="dash"/>
          </a:ln>
        </p:spPr>
      </p:pic>
      <p:grpSp>
        <p:nvGrpSpPr>
          <p:cNvPr name="Group 21" id="21"/>
          <p:cNvGrpSpPr/>
          <p:nvPr/>
        </p:nvGrpSpPr>
        <p:grpSpPr>
          <a:xfrm rot="0">
            <a:off x="16971563" y="8600082"/>
            <a:ext cx="1316437" cy="131643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311738" y="4127034"/>
            <a:ext cx="5423745" cy="78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Você vê um vizinho preso após um deslizamento. O que deve fazer?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60867" y="5702157"/>
            <a:ext cx="2456738" cy="149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Aproximar-se do local para tentar orientar a pessoa até que o socorro chegue.</a:t>
            </a:r>
          </a:p>
          <a:p>
            <a:pPr algn="ctr">
              <a:lnSpc>
                <a:spcPts val="1960"/>
              </a:lnSpc>
            </a:pP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074168" y="7061625"/>
            <a:ext cx="2327505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Tentar retirar a pessoa rapidamente antes que o local fique mais perigoso.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006353" y="5778357"/>
            <a:ext cx="2610043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b) Acionar os Bombeiros pelo 193 e não entrar na área de risco.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0" y="7152496"/>
            <a:ext cx="2508757" cy="149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Pedir ajuda a outras pessoas próximas para entrar no local e retirar o vizinho..</a:t>
            </a:r>
          </a:p>
          <a:p>
            <a:pPr algn="ctr">
              <a:lnSpc>
                <a:spcPts val="1960"/>
              </a:lnSpc>
            </a:pP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480619" y="3190181"/>
            <a:ext cx="2271554" cy="216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2"/>
              </a:lnSpc>
              <a:spcBef>
                <a:spcPct val="0"/>
              </a:spcBef>
            </a:pPr>
            <a:r>
              <a:rPr lang="en-US" sz="12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não entrar na área de risco *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6803608" y="8650460"/>
            <a:ext cx="1316437" cy="131643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969602" y="3929562"/>
            <a:ext cx="6108016" cy="126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você se separar da sua família durante uma emergência, qual atitude é mais segura?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74168" y="5655441"/>
            <a:ext cx="2076133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Voltar sozinho para casa, mesmo que a região esteja em risco.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018701" y="7061625"/>
            <a:ext cx="2341072" cy="125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Procurar seus familiares em locais onde esteja acontecendo o evento.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221967" y="5539400"/>
            <a:ext cx="2074203" cy="125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b) Procurar o ponto de encontro combinado ou entrar em contato com um adulto de confiança.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29268" y="7333537"/>
            <a:ext cx="2459601" cy="5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Esperar sozinho até que a situação termine.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1896990" y="2492717"/>
            <a:ext cx="1871238" cy="1590553"/>
          </a:xfrm>
          <a:prstGeom prst="rect">
            <a:avLst/>
          </a:prstGeom>
          <a:ln w="66675" cap="sq">
            <a:solidFill>
              <a:srgbClr val="00BF63"/>
            </a:solidFill>
            <a:prstDash val="dash"/>
          </a:ln>
        </p:spPr>
      </p:pic>
      <p:grpSp>
        <p:nvGrpSpPr>
          <p:cNvPr name="Group 21" id="21"/>
          <p:cNvGrpSpPr/>
          <p:nvPr/>
        </p:nvGrpSpPr>
        <p:grpSpPr>
          <a:xfrm rot="0">
            <a:off x="16781433" y="8781819"/>
            <a:ext cx="1316437" cy="131643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072897" y="3884050"/>
            <a:ext cx="5901426" cy="1953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Durante uma enchente, você vê uma rua coberta pela água. Por que deve evitar caminhar por esse local?</a:t>
            </a:r>
          </a:p>
          <a:p>
            <a:pPr algn="ctr">
              <a:lnSpc>
                <a:spcPts val="3080"/>
              </a:lnSpc>
            </a:pPr>
          </a:p>
          <a:p>
            <a:pPr algn="ctr">
              <a:lnSpc>
                <a:spcPts val="308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050282" y="5638964"/>
            <a:ext cx="2277909" cy="125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Porque a água pode dificultar a circulação de veículos e aumentar o risco de acidentes no trânsito.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5686416"/>
            <a:ext cx="2291020" cy="125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b) Porque a água pode esconder bueiros, buracos e outros obstáculos, além de apresentar correnteza.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14420" y="7061625"/>
            <a:ext cx="2349633" cy="125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Porque a água da enchente pode carregar sujeiras e objetos, tornando o caminho mais difícil de atravessar.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88373" y="7185450"/>
            <a:ext cx="2141392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Porque a água pode aumentar de volume rapidamente e atingir outras áreas da cidade.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1896990" y="2492717"/>
            <a:ext cx="1871238" cy="1590553"/>
          </a:xfrm>
          <a:prstGeom prst="rect">
            <a:avLst/>
          </a:prstGeom>
          <a:ln w="66675" cap="sq">
            <a:solidFill>
              <a:srgbClr val="00BF63"/>
            </a:solidFill>
            <a:prstDash val="dash"/>
          </a:ln>
        </p:spPr>
      </p:pic>
      <p:grpSp>
        <p:nvGrpSpPr>
          <p:cNvPr name="Group 21" id="21"/>
          <p:cNvGrpSpPr/>
          <p:nvPr/>
        </p:nvGrpSpPr>
        <p:grpSpPr>
          <a:xfrm rot="0">
            <a:off x="16803608" y="8758855"/>
            <a:ext cx="1316437" cy="131643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174297" y="4094670"/>
            <a:ext cx="5611161" cy="117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uma ponte estiver coberta por água corrente, o que você deve fazer?</a:t>
            </a:r>
          </a:p>
          <a:p>
            <a:pPr algn="ctr">
              <a:lnSpc>
                <a:spcPts val="3080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074168" y="5787049"/>
            <a:ext cx="1988359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Atravessar rapidamente antes que a água aumente.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79878" y="5787049"/>
            <a:ext cx="2381726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b) Atravessar acompanhado de outra pessoa.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74168" y="7110148"/>
            <a:ext cx="2230137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c) Esperar a água baixar e seguir uma orientação segura.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39430" y="7110148"/>
            <a:ext cx="1839276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Usar uma corda para atravessar com mais segurança.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803608" y="8600082"/>
            <a:ext cx="1316437" cy="131643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774322" y="4161319"/>
            <a:ext cx="6050966" cy="78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que fazer com alimentos que tiveram contato com a água de uma inundação?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28321" y="5638964"/>
            <a:ext cx="2475984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Consumidos normalmente, desde que não apresentem alteração no cheiro ou na aparência.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84860" y="5762789"/>
            <a:ext cx="2289277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b) Lavados apenas por fora e consumidos normalmente.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28321" y="7209712"/>
            <a:ext cx="2571342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Guardados na geladeira por alguns dias para evitar contaminação.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99805" y="7056736"/>
            <a:ext cx="2905093" cy="125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d) Descartados, pois a água da inundação pode contaminá-los com microrganismos e outras substâncias prejudiciais à saúde.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2023219" y="2737176"/>
            <a:ext cx="1871238" cy="1590553"/>
          </a:xfrm>
          <a:prstGeom prst="rect">
            <a:avLst/>
          </a:prstGeom>
          <a:ln w="66675" cap="sq">
            <a:solidFill>
              <a:srgbClr val="00BF63"/>
            </a:solidFill>
            <a:prstDash val="dash"/>
          </a:ln>
        </p:spPr>
      </p:pic>
      <p:grpSp>
        <p:nvGrpSpPr>
          <p:cNvPr name="Group 21" id="21"/>
          <p:cNvGrpSpPr/>
          <p:nvPr/>
        </p:nvGrpSpPr>
        <p:grpSpPr>
          <a:xfrm rot="0">
            <a:off x="16803608" y="8600082"/>
            <a:ext cx="1316437" cy="131643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074168" y="4015053"/>
            <a:ext cx="5901426" cy="117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Durante uma ventania, onde é mais seguro ficar?</a:t>
            </a:r>
          </a:p>
          <a:p>
            <a:pPr algn="ctr">
              <a:lnSpc>
                <a:spcPts val="308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074168" y="5910875"/>
            <a:ext cx="2170033" cy="5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Próximo a uma árvore grande.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96861" y="5928656"/>
            <a:ext cx="2423131" cy="25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b) Em uma área aberta.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58288" y="7085887"/>
            <a:ext cx="2246017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c) Em um local fechado e protegido, longe de árvores e estruturas que possam cair.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0" y="7209712"/>
            <a:ext cx="2328853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Debaixo de uma cobertura próxima a postes.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803608" y="8600082"/>
            <a:ext cx="1316437" cy="131643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4002" y="0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0"/>
                </a:lnTo>
                <a:lnTo>
                  <a:pt x="0" y="10373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85437" y="3952758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71205" y="3319452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4" y="0"/>
                </a:lnTo>
                <a:lnTo>
                  <a:pt x="1306414" y="1306413"/>
                </a:lnTo>
                <a:lnTo>
                  <a:pt x="0" y="13064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54136" y="3546328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94558" y="5718047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64390" y="5718047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194558" y="714070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264390" y="714070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194558" y="4010868"/>
            <a:ext cx="5611161" cy="117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Durante uma ventania forte, o que é mais seguro fazer com as janelas da escola?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475200" y="3972658"/>
            <a:ext cx="1449934" cy="1516937"/>
            <a:chOff x="0" y="0"/>
            <a:chExt cx="1933246" cy="202258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194558" y="5818521"/>
            <a:ext cx="2170033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Abri-las para diminuir a força do vento dentro da sala.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35601" y="5818521"/>
            <a:ext cx="1887716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b) Ficar próximo às janelas para observar a ventania.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94687" y="7141607"/>
            <a:ext cx="1920944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c) Mantê-las fechadas e seguir as orientações da escola.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65675" y="7241170"/>
            <a:ext cx="2328853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Abrir algumas janelas para facilitar a saída dos alunos.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971563" y="8600082"/>
            <a:ext cx="1316437" cy="131643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4002" y="0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0"/>
                </a:lnTo>
                <a:lnTo>
                  <a:pt x="0" y="10373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85437" y="3952758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71205" y="3319452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4" y="0"/>
                </a:lnTo>
                <a:lnTo>
                  <a:pt x="1306414" y="1306413"/>
                </a:lnTo>
                <a:lnTo>
                  <a:pt x="0" y="13064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54136" y="3546328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94558" y="5718047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64390" y="5718047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194558" y="714070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264390" y="714070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475200" y="3972658"/>
            <a:ext cx="1449934" cy="1516937"/>
            <a:chOff x="0" y="0"/>
            <a:chExt cx="1933246" cy="202258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194558" y="4126128"/>
            <a:ext cx="5611161" cy="78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estiver chovendo e ventando muito, onde é mais seguro ficar?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49155" y="5718945"/>
            <a:ext cx="1930798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a) Em um local fechado e protegido, longe de janelas e árvores.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35601" y="5818521"/>
            <a:ext cx="1887716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b) Próximo a postes para ficar longe das árvores.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49155" y="7265432"/>
            <a:ext cx="1920944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Em uma área aberta, longe das construções.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35601" y="7141607"/>
            <a:ext cx="2058927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Permanecer em via pública para monitorar o avanço da tempestade.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2023219" y="2737176"/>
            <a:ext cx="1871238" cy="1590553"/>
          </a:xfrm>
          <a:prstGeom prst="rect">
            <a:avLst/>
          </a:prstGeom>
          <a:ln w="66675" cap="sq">
            <a:solidFill>
              <a:srgbClr val="00BF63"/>
            </a:solidFill>
            <a:prstDash val="dash"/>
          </a:ln>
        </p:spPr>
      </p:pic>
      <p:grpSp>
        <p:nvGrpSpPr>
          <p:cNvPr name="Group 21" id="21"/>
          <p:cNvGrpSpPr/>
          <p:nvPr/>
        </p:nvGrpSpPr>
        <p:grpSpPr>
          <a:xfrm rot="0">
            <a:off x="16971563" y="8600082"/>
            <a:ext cx="1316437" cy="131643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74168" y="4182274"/>
            <a:ext cx="5774253" cy="675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a água começar a subir rapidamente na rua, o que você deve fazer?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279123" y="5787063"/>
            <a:ext cx="1820228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Aproximar-se do rio 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para observar o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nível da água.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5787063"/>
            <a:ext cx="2200083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b) Tentar atravessar a área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alagada rapidamente.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04022" y="7061625"/>
            <a:ext cx="2634463" cy="1214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c) Procurar um local mais alto e seguro, seguindo as orientações das autoridades.</a:t>
            </a:r>
          </a:p>
          <a:p>
            <a:pPr algn="ctr">
              <a:lnSpc>
                <a:spcPts val="1680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358877" y="7209712"/>
            <a:ext cx="1800384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Entrar na água para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ajudar a retirar 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objetos da rua.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850325" y="8598106"/>
            <a:ext cx="1316437" cy="131643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3612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2218691" y="2740997"/>
            <a:ext cx="1683551" cy="1431019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6174297" y="4061324"/>
            <a:ext cx="5611161" cy="167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Você está diante de uma rua alagada e a água parece estar baixa. Qual é a atitude mais segura?</a:t>
            </a:r>
          </a:p>
          <a:p>
            <a:pPr algn="ctr">
              <a:lnSpc>
                <a:spcPts val="2660"/>
              </a:lnSpc>
            </a:pPr>
          </a:p>
          <a:p>
            <a:pPr algn="ctr">
              <a:lnSpc>
                <a:spcPts val="266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074168" y="5787063"/>
            <a:ext cx="2208264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Atravessar rapidamente, antes que a água aumente</a:t>
            </a: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62129" y="5689464"/>
            <a:ext cx="2112008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b) Esperar a água baixar e evitar atravessar a área alagada.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78386" y="7209712"/>
            <a:ext cx="2199828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Caminhar devagar, testando o caminho com os pés..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28745" y="7209712"/>
            <a:ext cx="1978775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d) Atravessar pelo local onde a água parece mais rasa</a:t>
            </a: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6803608" y="8758855"/>
            <a:ext cx="1316437" cy="131643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3137" y="-31459"/>
            <a:ext cx="15559996" cy="10373330"/>
          </a:xfrm>
          <a:custGeom>
            <a:avLst/>
            <a:gdLst/>
            <a:ahLst/>
            <a:cxnLst/>
            <a:rect r="r" b="b" t="t" l="l"/>
            <a:pathLst>
              <a:path h="10373330" w="15559996">
                <a:moveTo>
                  <a:pt x="0" y="0"/>
                </a:moveTo>
                <a:lnTo>
                  <a:pt x="15559996" y="0"/>
                </a:lnTo>
                <a:lnTo>
                  <a:pt x="15559996" y="10373331"/>
                </a:lnTo>
                <a:lnTo>
                  <a:pt x="0" y="1037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5047" y="3921299"/>
            <a:ext cx="6410547" cy="1346215"/>
          </a:xfrm>
          <a:custGeom>
            <a:avLst/>
            <a:gdLst/>
            <a:ahLst/>
            <a:cxnLst/>
            <a:rect r="r" b="b" t="t" l="l"/>
            <a:pathLst>
              <a:path h="1346215" w="6410547">
                <a:moveTo>
                  <a:pt x="0" y="0"/>
                </a:moveTo>
                <a:lnTo>
                  <a:pt x="6410547" y="0"/>
                </a:lnTo>
                <a:lnTo>
                  <a:pt x="6410547" y="1346215"/>
                </a:lnTo>
                <a:lnTo>
                  <a:pt x="0" y="13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50815" y="3287993"/>
            <a:ext cx="1306414" cy="1306414"/>
          </a:xfrm>
          <a:custGeom>
            <a:avLst/>
            <a:gdLst/>
            <a:ahLst/>
            <a:cxnLst/>
            <a:rect r="r" b="b" t="t" l="l"/>
            <a:pathLst>
              <a:path h="1306414" w="1306414">
                <a:moveTo>
                  <a:pt x="0" y="0"/>
                </a:moveTo>
                <a:lnTo>
                  <a:pt x="1306413" y="0"/>
                </a:lnTo>
                <a:lnTo>
                  <a:pt x="1306413" y="1306414"/>
                </a:lnTo>
                <a:lnTo>
                  <a:pt x="0" y="1306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33746" y="3514870"/>
            <a:ext cx="540551" cy="812859"/>
          </a:xfrm>
          <a:custGeom>
            <a:avLst/>
            <a:gdLst/>
            <a:ahLst/>
            <a:cxnLst/>
            <a:rect r="r" b="b" t="t" l="l"/>
            <a:pathLst>
              <a:path h="812859" w="540551">
                <a:moveTo>
                  <a:pt x="0" y="0"/>
                </a:moveTo>
                <a:lnTo>
                  <a:pt x="540551" y="0"/>
                </a:lnTo>
                <a:lnTo>
                  <a:pt x="540551" y="812859"/>
                </a:lnTo>
                <a:lnTo>
                  <a:pt x="0" y="81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74168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686589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1"/>
                </a:lnTo>
                <a:lnTo>
                  <a:pt x="0" y="1003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74168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109250"/>
            <a:ext cx="2230137" cy="1003562"/>
          </a:xfrm>
          <a:custGeom>
            <a:avLst/>
            <a:gdLst/>
            <a:ahLst/>
            <a:cxnLst/>
            <a:rect r="r" b="b" t="t" l="l"/>
            <a:pathLst>
              <a:path h="1003562" w="2230137">
                <a:moveTo>
                  <a:pt x="0" y="0"/>
                </a:moveTo>
                <a:lnTo>
                  <a:pt x="2230137" y="0"/>
                </a:lnTo>
                <a:lnTo>
                  <a:pt x="2230137" y="1003562"/>
                </a:lnTo>
                <a:lnTo>
                  <a:pt x="0" y="10035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174297" y="4024494"/>
            <a:ext cx="5447615" cy="107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você perceber rachaduras no terreno ou ouvir estalos vindos de uma encosta, o que deve fazer?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354810" y="3941200"/>
            <a:ext cx="1449934" cy="1516937"/>
            <a:chOff x="0" y="0"/>
            <a:chExt cx="1933246" cy="202258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933246" cy="2022582"/>
              <a:chOff x="0" y="0"/>
              <a:chExt cx="448241" cy="46895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48241" cy="468955"/>
              </a:xfrm>
              <a:custGeom>
                <a:avLst/>
                <a:gdLst/>
                <a:ahLst/>
                <a:cxnLst/>
                <a:rect r="r" b="b" t="t" l="l"/>
                <a:pathLst>
                  <a:path h="468955" w="448241">
                    <a:moveTo>
                      <a:pt x="224121" y="0"/>
                    </a:moveTo>
                    <a:lnTo>
                      <a:pt x="224121" y="0"/>
                    </a:lnTo>
                    <a:cubicBezTo>
                      <a:pt x="283561" y="0"/>
                      <a:pt x="340567" y="23613"/>
                      <a:pt x="382598" y="65643"/>
                    </a:cubicBezTo>
                    <a:cubicBezTo>
                      <a:pt x="424629" y="107674"/>
                      <a:pt x="448241" y="164680"/>
                      <a:pt x="448241" y="224121"/>
                    </a:cubicBezTo>
                    <a:lnTo>
                      <a:pt x="448241" y="244834"/>
                    </a:lnTo>
                    <a:cubicBezTo>
                      <a:pt x="448241" y="304275"/>
                      <a:pt x="424629" y="361281"/>
                      <a:pt x="382598" y="403312"/>
                    </a:cubicBezTo>
                    <a:cubicBezTo>
                      <a:pt x="340567" y="445342"/>
                      <a:pt x="283561" y="468955"/>
                      <a:pt x="224121" y="468955"/>
                    </a:cubicBezTo>
                    <a:lnTo>
                      <a:pt x="224121" y="468955"/>
                    </a:lnTo>
                    <a:cubicBezTo>
                      <a:pt x="164680" y="468955"/>
                      <a:pt x="107674" y="445342"/>
                      <a:pt x="65643" y="403312"/>
                    </a:cubicBezTo>
                    <a:cubicBezTo>
                      <a:pt x="23613" y="361281"/>
                      <a:pt x="0" y="304275"/>
                      <a:pt x="0" y="244834"/>
                    </a:cubicBezTo>
                    <a:lnTo>
                      <a:pt x="0" y="224121"/>
                    </a:lnTo>
                    <a:cubicBezTo>
                      <a:pt x="0" y="164680"/>
                      <a:pt x="23613" y="107674"/>
                      <a:pt x="65643" y="65643"/>
                    </a:cubicBezTo>
                    <a:cubicBezTo>
                      <a:pt x="107674" y="23613"/>
                      <a:pt x="164680" y="0"/>
                      <a:pt x="224121" y="0"/>
                    </a:cubicBezTo>
                    <a:close/>
                  </a:path>
                </a:pathLst>
              </a:custGeom>
              <a:solidFill>
                <a:srgbClr val="4E8AB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48241" cy="5165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155161" y="224429"/>
              <a:ext cx="1767265" cy="1567856"/>
            </a:xfrm>
            <a:custGeom>
              <a:avLst/>
              <a:gdLst/>
              <a:ahLst/>
              <a:cxnLst/>
              <a:rect r="r" b="b" t="t" l="l"/>
              <a:pathLst>
                <a:path h="1567856" w="1767265">
                  <a:moveTo>
                    <a:pt x="0" y="0"/>
                  </a:moveTo>
                  <a:lnTo>
                    <a:pt x="1767265" y="0"/>
                  </a:lnTo>
                  <a:lnTo>
                    <a:pt x="1767265" y="1567856"/>
                  </a:lnTo>
                  <a:lnTo>
                    <a:pt x="0" y="156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162612" y="5793903"/>
            <a:ext cx="2053249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Aproximar-se para descobrir de onde vem o barulho.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83535" y="5638964"/>
            <a:ext cx="2351066" cy="1214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b) Afastar-se da área de risco e procurar ajuda ou seguir as orientações de segurança.</a:t>
            </a:r>
          </a:p>
          <a:p>
            <a:pPr algn="just">
              <a:lnSpc>
                <a:spcPts val="168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6344347" y="7110148"/>
            <a:ext cx="1689780" cy="100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c) Esperar para ver se as rachaduras aumentam.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65849" y="7209712"/>
            <a:ext cx="1986439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d) Ficar próximo ao local para avisar outras pessoas</a:t>
            </a: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971563" y="8970563"/>
            <a:ext cx="1316437" cy="131643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DAHQxSKslZw</dc:identifier>
  <dcterms:modified xsi:type="dcterms:W3CDTF">2011-08-01T06:04:30Z</dcterms:modified>
  <cp:revision>1</cp:revision>
  <dc:title>Pergunta aqui</dc:title>
</cp:coreProperties>
</file>